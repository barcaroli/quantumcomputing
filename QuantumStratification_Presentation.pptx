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Sample size</c:v>
                </c:pt>
              </c:strCache>
            </c:strRef>
          </c:tx>
          <c:spPr>
            <a:solidFill>
              <a:srgbClr val="8A8F9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27304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A8F9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7D5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B5EA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2A541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3E7CB1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D64550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E8836B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Baseline
(no aggregation)</c:v>
                  </c:pt>
                  <c:pt idx="1">
                    <c:v>SamplingStrata
GA (benchmark)</c:v>
                  </c:pt>
                  <c:pt idx="2">
                    <c:v>KmeansSolution
K=4</c:v>
                  </c:pt>
                  <c:pt idx="3">
                    <c:v>Amplify AE
(GPU Ising)</c:v>
                  </c:pt>
                  <c:pt idx="4">
                    <c:v>D-Wave
QUBO+SA</c:v>
                  </c:pt>
                  <c:pt idx="5">
                    <c:v>IBM QAOA
(40q, real HW)</c:v>
                  </c:pt>
                  <c:pt idx="6">
                    <c:v>Dirac-3 QUBO
(real HW)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105</c:v>
                </c:pt>
                <c:pt idx="1">
                  <c:v>129</c:v>
                </c:pt>
                <c:pt idx="2">
                  <c:v>312</c:v>
                </c:pt>
                <c:pt idx="3">
                  <c:v>160</c:v>
                </c:pt>
                <c:pt idx="4">
                  <c:v>162</c:v>
                </c:pt>
                <c:pt idx="5">
                  <c:v>262</c:v>
                </c:pt>
                <c:pt idx="6">
                  <c:v>286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27304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27304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4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94560"/>
            <a:ext cx="5943600" cy="5943600"/>
          </a:xfrm>
          <a:prstGeom prst="ellipse">
            <a:avLst/>
          </a:prstGeom>
          <a:solidFill>
            <a:srgbClr val="2C3260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-822960"/>
            <a:ext cx="2926080" cy="2926080"/>
          </a:xfrm>
          <a:prstGeom prst="ellipse">
            <a:avLst/>
          </a:prstGeom>
          <a:solidFill>
            <a:srgbClr val="00B4A6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965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STRATIFICATION UNDER TEST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377440"/>
            <a:ext cx="9509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Optimal Stratification of a Sampling Frame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520440"/>
            <a:ext cx="9509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7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Classical, Quantum, and Quantum-Inspired Approaches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" y="4343400"/>
            <a:ext cx="502920" cy="36576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452628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comparative study on the swissmunicipalities dataset — D-Wave, IBM Quantum, QCi Dirac-3, and Fixstars Amplify AE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6263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2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Methodology &amp; Quantum Computing Research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deck covers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20440" cy="1417320"/>
          </a:xfrm>
          <a:prstGeom prst="rect">
            <a:avLst/>
          </a:prstGeom>
          <a:solidFill>
            <a:srgbClr val="F5F6FA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1911096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B4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49808" y="2386584"/>
            <a:ext cx="3118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49808" y="2724912"/>
            <a:ext cx="31181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stratification &amp; the Bethel sample-size objective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25112" y="1783080"/>
            <a:ext cx="3520440" cy="1417320"/>
          </a:xfrm>
          <a:prstGeom prst="rect">
            <a:avLst/>
          </a:prstGeom>
          <a:solidFill>
            <a:srgbClr val="F5F6FA"/>
          </a:solidFill>
          <a:ln/>
        </p:spPr>
      </p:sp>
      <p:sp>
        <p:nvSpPr>
          <p:cNvPr id="9" name="Text 7"/>
          <p:cNvSpPr/>
          <p:nvPr/>
        </p:nvSpPr>
        <p:spPr>
          <a:xfrm>
            <a:off x="4526280" y="1911096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B4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526280" y="2386584"/>
            <a:ext cx="3118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baseline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26280" y="2724912"/>
            <a:ext cx="31181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SamplingStrata genetic algorithm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101584" y="1783080"/>
            <a:ext cx="3520440" cy="1417320"/>
          </a:xfrm>
          <a:prstGeom prst="rect">
            <a:avLst/>
          </a:prstGeom>
          <a:solidFill>
            <a:srgbClr val="F5F6FA"/>
          </a:solidFill>
          <a:ln/>
        </p:spPr>
      </p:sp>
      <p:sp>
        <p:nvSpPr>
          <p:cNvPr id="13" name="Text 11"/>
          <p:cNvSpPr/>
          <p:nvPr/>
        </p:nvSpPr>
        <p:spPr>
          <a:xfrm>
            <a:off x="8302752" y="1911096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B4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8302752" y="2386584"/>
            <a:ext cx="3118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solvers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302752" y="2724912"/>
            <a:ext cx="31181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D-Wave, IBM Quantum, QCi Dirac-3, Fixstars Amplify AE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511296"/>
            <a:ext cx="3520440" cy="1417320"/>
          </a:xfrm>
          <a:prstGeom prst="rect">
            <a:avLst/>
          </a:prstGeom>
          <a:solidFill>
            <a:srgbClr val="F5F6FA"/>
          </a:solidFill>
          <a:ln/>
        </p:spPr>
      </p:sp>
      <p:sp>
        <p:nvSpPr>
          <p:cNvPr id="17" name="Text 15"/>
          <p:cNvSpPr/>
          <p:nvPr/>
        </p:nvSpPr>
        <p:spPr>
          <a:xfrm>
            <a:off x="749808" y="3639312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B4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49808" y="4114800"/>
            <a:ext cx="3118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experiment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749808" y="4453128"/>
            <a:ext cx="31181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common 20-stratum frame, same surrogate objective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325112" y="3511296"/>
            <a:ext cx="3520440" cy="1417320"/>
          </a:xfrm>
          <a:prstGeom prst="rect">
            <a:avLst/>
          </a:prstGeom>
          <a:solidFill>
            <a:srgbClr val="F5F6FA"/>
          </a:solidFill>
          <a:ln/>
        </p:spPr>
      </p:sp>
      <p:sp>
        <p:nvSpPr>
          <p:cNvPr id="21" name="Text 19"/>
          <p:cNvSpPr/>
          <p:nvPr/>
        </p:nvSpPr>
        <p:spPr>
          <a:xfrm>
            <a:off x="4526280" y="3639312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B4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4526280" y="4114800"/>
            <a:ext cx="3118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4526280" y="4453128"/>
            <a:ext cx="31181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gets closest to the classical benchmark — and why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101584" y="3511296"/>
            <a:ext cx="3520440" cy="1417320"/>
          </a:xfrm>
          <a:prstGeom prst="rect">
            <a:avLst/>
          </a:prstGeom>
          <a:solidFill>
            <a:srgbClr val="F5F6FA"/>
          </a:solidFill>
          <a:ln/>
        </p:spPr>
      </p:sp>
      <p:sp>
        <p:nvSpPr>
          <p:cNvPr id="25" name="Text 23"/>
          <p:cNvSpPr/>
          <p:nvPr/>
        </p:nvSpPr>
        <p:spPr>
          <a:xfrm>
            <a:off x="8302752" y="3639312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B4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8302752" y="4114800"/>
            <a:ext cx="31181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8302752" y="4453128"/>
            <a:ext cx="31181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Trapped ions, the surrogate problem, and honest limits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Optimal stratification of a sampling frame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760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73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L atomic strata into K final strata so that the Bethel-Chromy allocation reaches a target precision (CV) with the smallest possible total sample size.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651760"/>
            <a:ext cx="384048" cy="384048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6517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2624328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Combinatorial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097280" y="2953512"/>
            <a:ext cx="5257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search space grows like K to the power L — exhaustive search is infeasible.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3822192"/>
            <a:ext cx="384048" cy="384048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8221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97280" y="379476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pairwise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097280" y="4123944"/>
            <a:ext cx="5257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true objective is defined implicitly through the Bethel allocation, which couples every stratum in a cluster.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4992624"/>
            <a:ext cx="384048" cy="384048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9926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97280" y="4965192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shortcut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097280" y="5294376"/>
            <a:ext cx="5257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Replacing it with within-cluster homogeneity makes the problem tractable for QUBO solvers — at a price, quantified later in this deck.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720840" y="1508760"/>
            <a:ext cx="4937760" cy="4617720"/>
          </a:xfrm>
          <a:prstGeom prst="rect">
            <a:avLst/>
          </a:prstGeom>
          <a:solidFill>
            <a:srgbClr val="1B1F3B"/>
          </a:solidFill>
          <a:ln/>
        </p:spPr>
      </p:sp>
      <p:sp>
        <p:nvSpPr>
          <p:cNvPr id="18" name="Text 16"/>
          <p:cNvSpPr/>
          <p:nvPr/>
        </p:nvSpPr>
        <p:spPr>
          <a:xfrm>
            <a:off x="6995160" y="17373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atomic strata  →  K final strata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040880" y="2331720"/>
            <a:ext cx="384048" cy="384048"/>
          </a:xfrm>
          <a:prstGeom prst="rect">
            <a:avLst/>
          </a:prstGeom>
          <a:solidFill>
            <a:srgbClr val="3A4074"/>
          </a:solidFill>
          <a:ln w="9525">
            <a:solidFill>
              <a:srgbClr val="00B4A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16368" y="2331720"/>
            <a:ext cx="384048" cy="384048"/>
          </a:xfrm>
          <a:prstGeom prst="rect">
            <a:avLst/>
          </a:prstGeom>
          <a:solidFill>
            <a:srgbClr val="3A4074"/>
          </a:solidFill>
          <a:ln w="9525">
            <a:solidFill>
              <a:srgbClr val="00B4A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991856" y="2331720"/>
            <a:ext cx="384048" cy="384048"/>
          </a:xfrm>
          <a:prstGeom prst="rect">
            <a:avLst/>
          </a:prstGeom>
          <a:solidFill>
            <a:srgbClr val="3A4074"/>
          </a:solidFill>
          <a:ln w="9525">
            <a:solidFill>
              <a:srgbClr val="00B4A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467344" y="2331720"/>
            <a:ext cx="384048" cy="384048"/>
          </a:xfrm>
          <a:prstGeom prst="rect">
            <a:avLst/>
          </a:prstGeom>
          <a:solidFill>
            <a:srgbClr val="3A4074"/>
          </a:solidFill>
          <a:ln w="9525">
            <a:solidFill>
              <a:srgbClr val="00B4A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942832" y="2331720"/>
            <a:ext cx="384048" cy="384048"/>
          </a:xfrm>
          <a:prstGeom prst="rect">
            <a:avLst/>
          </a:prstGeom>
          <a:solidFill>
            <a:srgbClr val="3A4074"/>
          </a:solidFill>
          <a:ln w="9525">
            <a:solidFill>
              <a:srgbClr val="00B4A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418320" y="2331720"/>
            <a:ext cx="384048" cy="384048"/>
          </a:xfrm>
          <a:prstGeom prst="rect">
            <a:avLst/>
          </a:prstGeom>
          <a:solidFill>
            <a:srgbClr val="3A4074"/>
          </a:solidFill>
          <a:ln w="9525">
            <a:solidFill>
              <a:srgbClr val="00B4A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893808" y="2331720"/>
            <a:ext cx="384048" cy="384048"/>
          </a:xfrm>
          <a:prstGeom prst="rect">
            <a:avLst/>
          </a:prstGeom>
          <a:solidFill>
            <a:srgbClr val="3A4074"/>
          </a:solidFill>
          <a:ln w="9525">
            <a:solidFill>
              <a:srgbClr val="00B4A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369296" y="2331720"/>
            <a:ext cx="384048" cy="384048"/>
          </a:xfrm>
          <a:prstGeom prst="rect">
            <a:avLst/>
          </a:prstGeom>
          <a:solidFill>
            <a:srgbClr val="3A4074"/>
          </a:solidFill>
          <a:ln w="9525">
            <a:solidFill>
              <a:srgbClr val="00B4A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040880" y="2807208"/>
            <a:ext cx="384048" cy="384048"/>
          </a:xfrm>
          <a:prstGeom prst="rect">
            <a:avLst/>
          </a:prstGeom>
          <a:solidFill>
            <a:srgbClr val="3A4074"/>
          </a:solidFill>
          <a:ln w="9525">
            <a:solidFill>
              <a:srgbClr val="00B4A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516368" y="2807208"/>
            <a:ext cx="384048" cy="384048"/>
          </a:xfrm>
          <a:prstGeom prst="rect">
            <a:avLst/>
          </a:prstGeom>
          <a:solidFill>
            <a:srgbClr val="3A4074"/>
          </a:solidFill>
          <a:ln w="9525">
            <a:solidFill>
              <a:srgbClr val="00B4A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991856" y="2807208"/>
            <a:ext cx="384048" cy="384048"/>
          </a:xfrm>
          <a:prstGeom prst="rect">
            <a:avLst/>
          </a:prstGeom>
          <a:solidFill>
            <a:srgbClr val="3A4074"/>
          </a:solidFill>
          <a:ln w="9525">
            <a:solidFill>
              <a:srgbClr val="00B4A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467344" y="2807208"/>
            <a:ext cx="384048" cy="384048"/>
          </a:xfrm>
          <a:prstGeom prst="rect">
            <a:avLst/>
          </a:prstGeom>
          <a:solidFill>
            <a:srgbClr val="3A4074"/>
          </a:solidFill>
          <a:ln w="9525">
            <a:solidFill>
              <a:srgbClr val="00B4A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942832" y="2807208"/>
            <a:ext cx="384048" cy="384048"/>
          </a:xfrm>
          <a:prstGeom prst="rect">
            <a:avLst/>
          </a:prstGeom>
          <a:solidFill>
            <a:srgbClr val="3A4074"/>
          </a:solidFill>
          <a:ln w="9525">
            <a:solidFill>
              <a:srgbClr val="00B4A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418320" y="2807208"/>
            <a:ext cx="384048" cy="384048"/>
          </a:xfrm>
          <a:prstGeom prst="rect">
            <a:avLst/>
          </a:prstGeom>
          <a:solidFill>
            <a:srgbClr val="3A4074"/>
          </a:solidFill>
          <a:ln w="9525">
            <a:solidFill>
              <a:srgbClr val="00B4A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893808" y="2807208"/>
            <a:ext cx="384048" cy="384048"/>
          </a:xfrm>
          <a:prstGeom prst="rect">
            <a:avLst/>
          </a:prstGeom>
          <a:solidFill>
            <a:srgbClr val="3A4074"/>
          </a:solidFill>
          <a:ln w="9525">
            <a:solidFill>
              <a:srgbClr val="00B4A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369296" y="2807208"/>
            <a:ext cx="384048" cy="384048"/>
          </a:xfrm>
          <a:prstGeom prst="rect">
            <a:avLst/>
          </a:prstGeom>
          <a:solidFill>
            <a:srgbClr val="3A4074"/>
          </a:solidFill>
          <a:ln w="9525">
            <a:solidFill>
              <a:srgbClr val="00B4A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95160" y="324612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aggregate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995160" y="3657600"/>
            <a:ext cx="973836" cy="777240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37" name="Text 35"/>
          <p:cNvSpPr/>
          <p:nvPr/>
        </p:nvSpPr>
        <p:spPr>
          <a:xfrm>
            <a:off x="6995160" y="3657600"/>
            <a:ext cx="97383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k=1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8133588" y="3657600"/>
            <a:ext cx="973836" cy="777240"/>
          </a:xfrm>
          <a:prstGeom prst="rect">
            <a:avLst/>
          </a:prstGeom>
          <a:solidFill>
            <a:srgbClr val="F2A541"/>
          </a:solidFill>
          <a:ln/>
        </p:spPr>
      </p:sp>
      <p:sp>
        <p:nvSpPr>
          <p:cNvPr id="39" name="Text 37"/>
          <p:cNvSpPr/>
          <p:nvPr/>
        </p:nvSpPr>
        <p:spPr>
          <a:xfrm>
            <a:off x="8133588" y="3657600"/>
            <a:ext cx="97383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k=2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9272016" y="3657600"/>
            <a:ext cx="973836" cy="777240"/>
          </a:xfrm>
          <a:prstGeom prst="rect">
            <a:avLst/>
          </a:prstGeom>
          <a:solidFill>
            <a:srgbClr val="7B5EA7"/>
          </a:solidFill>
          <a:ln/>
        </p:spPr>
      </p:sp>
      <p:sp>
        <p:nvSpPr>
          <p:cNvPr id="41" name="Text 39"/>
          <p:cNvSpPr/>
          <p:nvPr/>
        </p:nvSpPr>
        <p:spPr>
          <a:xfrm>
            <a:off x="9272016" y="3657600"/>
            <a:ext cx="97383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k=3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10410444" y="3657600"/>
            <a:ext cx="973836" cy="777240"/>
          </a:xfrm>
          <a:prstGeom prst="rect">
            <a:avLst/>
          </a:prstGeom>
          <a:solidFill>
            <a:srgbClr val="D64550"/>
          </a:solidFill>
          <a:ln/>
        </p:spPr>
      </p:sp>
      <p:sp>
        <p:nvSpPr>
          <p:cNvPr id="43" name="Text 41"/>
          <p:cNvSpPr/>
          <p:nvPr/>
        </p:nvSpPr>
        <p:spPr>
          <a:xfrm>
            <a:off x="10410444" y="3657600"/>
            <a:ext cx="97383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k=4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995160" y="47091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7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minimise n(assignment) subject to CV targets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995160" y="525780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total Bethel sample size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6995160" y="55778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B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Σ over final strata of the CV-optimal per-stratum allocation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CLASSICAL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genetic algorithm in SamplingStrata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6492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73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population-based stochastic optimiser: chromosomes encode a cluster label per atomic stratum, and fitness is the true Bethel sample size — evaluated directly, not approximated.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697480"/>
            <a:ext cx="6492240" cy="868680"/>
          </a:xfrm>
          <a:prstGeom prst="rect">
            <a:avLst/>
          </a:prstGeom>
          <a:solidFill>
            <a:srgbClr val="F5F6F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807208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377440" y="2788920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73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cluster label per atomic stratum — a direct chromosome representation.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3721608"/>
            <a:ext cx="6492240" cy="868680"/>
          </a:xfrm>
          <a:prstGeom prst="rect">
            <a:avLst/>
          </a:prstGeom>
          <a:solidFill>
            <a:srgbClr val="F5F6FA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831336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377440" y="3813048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73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Bethel-Chromy sample size, at every evaluation — no surrogate.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4745736"/>
            <a:ext cx="6492240" cy="868680"/>
          </a:xfrm>
          <a:prstGeom prst="rect">
            <a:avLst/>
          </a:prstGeom>
          <a:solidFill>
            <a:srgbClr val="F5F6FA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4855464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377440" y="4837176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73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Selection, crossover and mutation across generations; restarted to avoid poor local optima.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406640" y="1508760"/>
            <a:ext cx="4251960" cy="461772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15" name="Text 13"/>
          <p:cNvSpPr/>
          <p:nvPr/>
        </p:nvSpPr>
        <p:spPr>
          <a:xfrm>
            <a:off x="7726680" y="1965960"/>
            <a:ext cx="3611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7F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BEST-KNOWN RESULT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589520" y="2331720"/>
            <a:ext cx="3886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129</a:t>
            </a:r>
            <a:endParaRPr lang="en-US" sz="9000" dirty="0"/>
          </a:p>
        </p:txBody>
      </p:sp>
      <p:sp>
        <p:nvSpPr>
          <p:cNvPr id="17" name="Text 15"/>
          <p:cNvSpPr/>
          <p:nvPr/>
        </p:nvSpPr>
        <p:spPr>
          <a:xfrm>
            <a:off x="7863840" y="3749040"/>
            <a:ext cx="3337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7F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units at K = 4, on the twenty-stratum common frame used throughout this study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72400" y="4892040"/>
            <a:ext cx="3520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BFE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benchmark every quantum and quantum-inspired result is measured against.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BRIDGING TO QUANTUM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clustering to a QUBO Hamiltonian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7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quantum and quantum-inspired solver in this study minimises the same surrogate: within-cluster dispersion, the one clustering objective with an exact quadratic, pairwise rewriting.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3429000" cy="2286000"/>
          </a:xfrm>
          <a:prstGeom prst="rect">
            <a:avLst/>
          </a:prstGeom>
          <a:solidFill>
            <a:srgbClr val="2C3260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606040"/>
            <a:ext cx="3429000" cy="73152"/>
          </a:xfrm>
          <a:prstGeom prst="rect">
            <a:avLst/>
          </a:prstGeom>
          <a:solidFill>
            <a:srgbClr val="D64550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880360"/>
            <a:ext cx="291693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Bethel sample size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04672" y="3611880"/>
            <a:ext cx="2916936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EB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true objective. Involves ratios and an iterative allocation — not a polynomial in the assignment variables.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995928" y="3474720"/>
            <a:ext cx="256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270248" y="2606040"/>
            <a:ext cx="3429000" cy="2286000"/>
          </a:xfrm>
          <a:prstGeom prst="rect">
            <a:avLst/>
          </a:prstGeom>
          <a:solidFill>
            <a:srgbClr val="2C3260"/>
          </a:solidFill>
          <a:ln/>
        </p:spPr>
      </p:sp>
      <p:sp>
        <p:nvSpPr>
          <p:cNvPr id="11" name="Shape 9"/>
          <p:cNvSpPr/>
          <p:nvPr/>
        </p:nvSpPr>
        <p:spPr>
          <a:xfrm>
            <a:off x="4270248" y="2606040"/>
            <a:ext cx="3429000" cy="73152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12" name="Text 10"/>
          <p:cNvSpPr/>
          <p:nvPr/>
        </p:nvSpPr>
        <p:spPr>
          <a:xfrm>
            <a:off x="4526280" y="2880360"/>
            <a:ext cx="291693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Within-cluster dispersion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26280" y="3611880"/>
            <a:ext cx="2916936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EB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proxy. Exactly quadratic once written pairwise: Σ w_ij over strata sharing a cluster.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717536" y="3474720"/>
            <a:ext cx="256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7991856" y="2606040"/>
            <a:ext cx="3429000" cy="2286000"/>
          </a:xfrm>
          <a:prstGeom prst="rect">
            <a:avLst/>
          </a:prstGeom>
          <a:solidFill>
            <a:srgbClr val="2C3260"/>
          </a:solidFill>
          <a:ln/>
        </p:spPr>
      </p:sp>
      <p:sp>
        <p:nvSpPr>
          <p:cNvPr id="16" name="Shape 14"/>
          <p:cNvSpPr/>
          <p:nvPr/>
        </p:nvSpPr>
        <p:spPr>
          <a:xfrm>
            <a:off x="7991856" y="2606040"/>
            <a:ext cx="3429000" cy="73152"/>
          </a:xfrm>
          <a:prstGeom prst="rect">
            <a:avLst/>
          </a:prstGeom>
          <a:solidFill>
            <a:srgbClr val="F2A541"/>
          </a:solidFill>
          <a:ln/>
        </p:spPr>
      </p:sp>
      <p:sp>
        <p:nvSpPr>
          <p:cNvPr id="17" name="Text 15"/>
          <p:cNvSpPr/>
          <p:nvPr/>
        </p:nvSpPr>
        <p:spPr>
          <a:xfrm>
            <a:off x="8247888" y="2880360"/>
            <a:ext cx="291693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QUBO / Ising Hamiltonian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47888" y="3611880"/>
            <a:ext cx="2916936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AEB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 every solver below actually accepts and minimises.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521208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penalty = 3 × max(w) enforces the one-hot constraint (each stratum in exactly one cluster) across every one-hot formulation used here.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FOUR SOLVERS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surrogate, four very different machines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606040" cy="4617720"/>
          </a:xfrm>
          <a:prstGeom prst="rect">
            <a:avLst/>
          </a:prstGeom>
          <a:solidFill>
            <a:srgbClr val="F5F6FA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554480"/>
            <a:ext cx="2606040" cy="685800"/>
          </a:xfrm>
          <a:prstGeom prst="rect">
            <a:avLst/>
          </a:prstGeom>
          <a:solidFill>
            <a:srgbClr val="3E7CB1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627632"/>
            <a:ext cx="22768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D-Wave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13232" y="1938528"/>
            <a:ext cx="22768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annealing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13232" y="2395728"/>
            <a:ext cx="22768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13232" y="2633472"/>
            <a:ext cx="2276856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73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QUBO. Dense connectivity needs minor-embedding onto a sparse Pegasus lattice — chains of physical qubits per logical variable.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13232" y="4343400"/>
            <a:ext cx="22768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SHARE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13232" y="4572000"/>
            <a:ext cx="2276856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Annealing itself is quantum; embedding, penalty, decode &amp; evaluation are classical.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74136" y="1554480"/>
            <a:ext cx="2606040" cy="4617720"/>
          </a:xfrm>
          <a:prstGeom prst="rect">
            <a:avLst/>
          </a:prstGeom>
          <a:solidFill>
            <a:srgbClr val="F5F6FA"/>
          </a:solidFill>
          <a:ln/>
        </p:spPr>
      </p:sp>
      <p:sp>
        <p:nvSpPr>
          <p:cNvPr id="13" name="Shape 11"/>
          <p:cNvSpPr/>
          <p:nvPr/>
        </p:nvSpPr>
        <p:spPr>
          <a:xfrm>
            <a:off x="3374136" y="1554480"/>
            <a:ext cx="2606040" cy="685800"/>
          </a:xfrm>
          <a:prstGeom prst="rect">
            <a:avLst/>
          </a:prstGeom>
          <a:solidFill>
            <a:srgbClr val="D64550"/>
          </a:solidFill>
          <a:ln/>
        </p:spPr>
      </p:sp>
      <p:sp>
        <p:nvSpPr>
          <p:cNvPr id="14" name="Text 12"/>
          <p:cNvSpPr/>
          <p:nvPr/>
        </p:nvSpPr>
        <p:spPr>
          <a:xfrm>
            <a:off x="3538728" y="1627632"/>
            <a:ext cx="22768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Quantum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538728" y="1938528"/>
            <a:ext cx="22768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Gate-based QAOA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538728" y="2395728"/>
            <a:ext cx="22768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538728" y="2633472"/>
            <a:ext cx="2276856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73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Binary-label encoding (not one-hot): b = ⌈log₂K⌉ qubits/stratum. Dense interactions force costly SWAP routing on the heavy-hex lattice.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538728" y="4343400"/>
            <a:ext cx="22768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SHARE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538728" y="4572000"/>
            <a:ext cx="2276856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prep &amp; energy estimate are quantum; the COBYLA loop, transpilation &amp; decoding are classical.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99632" y="1554480"/>
            <a:ext cx="2606040" cy="4617720"/>
          </a:xfrm>
          <a:prstGeom prst="rect">
            <a:avLst/>
          </a:prstGeom>
          <a:solidFill>
            <a:srgbClr val="F5F6FA"/>
          </a:solidFill>
          <a:ln/>
        </p:spPr>
      </p:sp>
      <p:sp>
        <p:nvSpPr>
          <p:cNvPr id="21" name="Shape 19"/>
          <p:cNvSpPr/>
          <p:nvPr/>
        </p:nvSpPr>
        <p:spPr>
          <a:xfrm>
            <a:off x="6199632" y="1554480"/>
            <a:ext cx="2606040" cy="685800"/>
          </a:xfrm>
          <a:prstGeom prst="rect">
            <a:avLst/>
          </a:prstGeom>
          <a:solidFill>
            <a:srgbClr val="7B5EA7"/>
          </a:solidFill>
          <a:ln/>
        </p:spPr>
      </p:sp>
      <p:sp>
        <p:nvSpPr>
          <p:cNvPr id="22" name="Text 20"/>
          <p:cNvSpPr/>
          <p:nvPr/>
        </p:nvSpPr>
        <p:spPr>
          <a:xfrm>
            <a:off x="6364224" y="1627632"/>
            <a:ext cx="22768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QCi Dirac-3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364224" y="1938528"/>
            <a:ext cx="22768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Photonic entropy QC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364224" y="2395728"/>
            <a:ext cx="22768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364224" y="2633472"/>
            <a:ext cx="2276856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73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QUBO. All-to-all connectivity: no embedding, no SWAP routing, no variational loop.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364224" y="4343400"/>
            <a:ext cx="22768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SHARE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364224" y="4572000"/>
            <a:ext cx="2276856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 is performed on photonic hardware per QCi's own description; construction &amp; evaluation remain classical.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025128" y="1554480"/>
            <a:ext cx="2606040" cy="4617720"/>
          </a:xfrm>
          <a:prstGeom prst="rect">
            <a:avLst/>
          </a:prstGeom>
          <a:solidFill>
            <a:srgbClr val="F5F6FA"/>
          </a:solidFill>
          <a:ln/>
        </p:spPr>
      </p:sp>
      <p:sp>
        <p:nvSpPr>
          <p:cNvPr id="29" name="Shape 27"/>
          <p:cNvSpPr/>
          <p:nvPr/>
        </p:nvSpPr>
        <p:spPr>
          <a:xfrm>
            <a:off x="9025128" y="1554480"/>
            <a:ext cx="2606040" cy="68580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30" name="Text 28"/>
          <p:cNvSpPr/>
          <p:nvPr/>
        </p:nvSpPr>
        <p:spPr>
          <a:xfrm>
            <a:off x="9189720" y="1627632"/>
            <a:ext cx="22768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Amplify AE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189720" y="1938528"/>
            <a:ext cx="22768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Ising engine (control)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189720" y="2395728"/>
            <a:ext cx="22768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9189720" y="2633472"/>
            <a:ext cx="2276856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73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one-hot QUBO to D-Wave/Dirac-3. Free, no quota limits, no embedding needed.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189720" y="4343400"/>
            <a:ext cx="22768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SHARE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9189720" y="4572000"/>
            <a:ext cx="2276856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Zero. A purely classical control that isolates the cost of the formulation from the cost of quantum hardware.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FOUR SOLVERS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much of each pipeline is actually quantum?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881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bar is one solver's workflow, split into its computational stages, sized equally within that solver's own pipeline — this is a stage-by-stage schematic, not a measured runtime split.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997964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D-Wave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229057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annealing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514600" y="2071116"/>
            <a:ext cx="1501445" cy="475488"/>
          </a:xfrm>
          <a:prstGeom prst="rect">
            <a:avLst/>
          </a:prstGeom>
          <a:solidFill>
            <a:srgbClr val="2E7D5B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42032" y="2071116"/>
            <a:ext cx="1446581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QUBO build</a:t>
            </a:r>
            <a:endParaRPr lang="en-US" sz="870" dirty="0"/>
          </a:p>
        </p:txBody>
      </p:sp>
      <p:sp>
        <p:nvSpPr>
          <p:cNvPr id="9" name="Shape 7"/>
          <p:cNvSpPr/>
          <p:nvPr/>
        </p:nvSpPr>
        <p:spPr>
          <a:xfrm>
            <a:off x="4048049" y="2071116"/>
            <a:ext cx="1501445" cy="475488"/>
          </a:xfrm>
          <a:prstGeom prst="rect">
            <a:avLst/>
          </a:prstGeom>
          <a:solidFill>
            <a:srgbClr val="2E7D5B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75481" y="2071116"/>
            <a:ext cx="1446581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870" dirty="0"/>
          </a:p>
        </p:txBody>
      </p:sp>
      <p:sp>
        <p:nvSpPr>
          <p:cNvPr id="11" name="Shape 9"/>
          <p:cNvSpPr/>
          <p:nvPr/>
        </p:nvSpPr>
        <p:spPr>
          <a:xfrm>
            <a:off x="5581498" y="2071116"/>
            <a:ext cx="1501445" cy="475488"/>
          </a:xfrm>
          <a:prstGeom prst="rect">
            <a:avLst/>
          </a:prstGeom>
          <a:solidFill>
            <a:srgbClr val="D6455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08930" y="2071116"/>
            <a:ext cx="1446581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Annealing</a:t>
            </a:r>
            <a:endParaRPr lang="en-US" sz="870" dirty="0"/>
          </a:p>
        </p:txBody>
      </p:sp>
      <p:sp>
        <p:nvSpPr>
          <p:cNvPr id="13" name="Shape 11"/>
          <p:cNvSpPr/>
          <p:nvPr/>
        </p:nvSpPr>
        <p:spPr>
          <a:xfrm>
            <a:off x="7114946" y="2071116"/>
            <a:ext cx="1501445" cy="475488"/>
          </a:xfrm>
          <a:prstGeom prst="rect">
            <a:avLst/>
          </a:prstGeom>
          <a:solidFill>
            <a:srgbClr val="2E7D5B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42378" y="2071116"/>
            <a:ext cx="1446581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 /</a:t>
            </a:r>
            <a:endParaRPr lang="en-US" sz="87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</a:t>
            </a:r>
            <a:endParaRPr lang="en-US" sz="870" dirty="0"/>
          </a:p>
        </p:txBody>
      </p:sp>
      <p:sp>
        <p:nvSpPr>
          <p:cNvPr id="15" name="Shape 13"/>
          <p:cNvSpPr/>
          <p:nvPr/>
        </p:nvSpPr>
        <p:spPr>
          <a:xfrm>
            <a:off x="8648395" y="2071116"/>
            <a:ext cx="1501445" cy="475488"/>
          </a:xfrm>
          <a:prstGeom prst="rect">
            <a:avLst/>
          </a:prstGeom>
          <a:solidFill>
            <a:srgbClr val="2E7D5B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75827" y="2071116"/>
            <a:ext cx="1446581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Bethel</a:t>
            </a:r>
            <a:endParaRPr lang="en-US" sz="87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</a:t>
            </a:r>
            <a:endParaRPr lang="en-US" sz="870" dirty="0"/>
          </a:p>
        </p:txBody>
      </p:sp>
      <p:sp>
        <p:nvSpPr>
          <p:cNvPr id="17" name="Text 15"/>
          <p:cNvSpPr/>
          <p:nvPr/>
        </p:nvSpPr>
        <p:spPr>
          <a:xfrm>
            <a:off x="10378440" y="212598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8640" y="2958084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Quantum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48640" y="325069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gate-based QAOA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514600" y="3031236"/>
            <a:ext cx="1245870" cy="475488"/>
          </a:xfrm>
          <a:prstGeom prst="rect">
            <a:avLst/>
          </a:prstGeom>
          <a:solidFill>
            <a:srgbClr val="2E7D5B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42032" y="3031236"/>
            <a:ext cx="119100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build</a:t>
            </a:r>
            <a:endParaRPr lang="en-US" sz="870" dirty="0"/>
          </a:p>
        </p:txBody>
      </p:sp>
      <p:sp>
        <p:nvSpPr>
          <p:cNvPr id="22" name="Shape 20"/>
          <p:cNvSpPr/>
          <p:nvPr/>
        </p:nvSpPr>
        <p:spPr>
          <a:xfrm>
            <a:off x="3792474" y="3031236"/>
            <a:ext cx="1245870" cy="475488"/>
          </a:xfrm>
          <a:prstGeom prst="rect">
            <a:avLst/>
          </a:prstGeom>
          <a:solidFill>
            <a:srgbClr val="2E7D5B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19906" y="3031236"/>
            <a:ext cx="119100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Transpile</a:t>
            </a:r>
            <a:endParaRPr lang="en-US" sz="870" dirty="0"/>
          </a:p>
        </p:txBody>
      </p:sp>
      <p:sp>
        <p:nvSpPr>
          <p:cNvPr id="24" name="Shape 22"/>
          <p:cNvSpPr/>
          <p:nvPr/>
        </p:nvSpPr>
        <p:spPr>
          <a:xfrm>
            <a:off x="5070348" y="3031236"/>
            <a:ext cx="1245870" cy="475488"/>
          </a:xfrm>
          <a:prstGeom prst="rect">
            <a:avLst/>
          </a:prstGeom>
          <a:solidFill>
            <a:srgbClr val="D6455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97780" y="3031236"/>
            <a:ext cx="119100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</a:t>
            </a:r>
            <a:endParaRPr lang="en-US" sz="87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exec.</a:t>
            </a:r>
            <a:endParaRPr lang="en-US" sz="870" dirty="0"/>
          </a:p>
        </p:txBody>
      </p:sp>
      <p:sp>
        <p:nvSpPr>
          <p:cNvPr id="26" name="Shape 24"/>
          <p:cNvSpPr/>
          <p:nvPr/>
        </p:nvSpPr>
        <p:spPr>
          <a:xfrm>
            <a:off x="6348222" y="3031236"/>
            <a:ext cx="1245870" cy="475488"/>
          </a:xfrm>
          <a:prstGeom prst="rect">
            <a:avLst/>
          </a:prstGeom>
          <a:solidFill>
            <a:srgbClr val="2E7D5B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75654" y="3031236"/>
            <a:ext cx="119100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COBYLA</a:t>
            </a:r>
            <a:endParaRPr lang="en-US" sz="87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</a:t>
            </a:r>
            <a:endParaRPr lang="en-US" sz="870" dirty="0"/>
          </a:p>
        </p:txBody>
      </p:sp>
      <p:sp>
        <p:nvSpPr>
          <p:cNvPr id="28" name="Shape 26"/>
          <p:cNvSpPr/>
          <p:nvPr/>
        </p:nvSpPr>
        <p:spPr>
          <a:xfrm>
            <a:off x="7626096" y="3031236"/>
            <a:ext cx="1245870" cy="475488"/>
          </a:xfrm>
          <a:prstGeom prst="rect">
            <a:avLst/>
          </a:prstGeom>
          <a:solidFill>
            <a:srgbClr val="2E7D5B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53528" y="3031236"/>
            <a:ext cx="119100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</a:t>
            </a:r>
            <a:endParaRPr lang="en-US" sz="870" dirty="0"/>
          </a:p>
        </p:txBody>
      </p:sp>
      <p:sp>
        <p:nvSpPr>
          <p:cNvPr id="30" name="Shape 28"/>
          <p:cNvSpPr/>
          <p:nvPr/>
        </p:nvSpPr>
        <p:spPr>
          <a:xfrm>
            <a:off x="8903970" y="3031236"/>
            <a:ext cx="1245870" cy="475488"/>
          </a:xfrm>
          <a:prstGeom prst="rect">
            <a:avLst/>
          </a:prstGeom>
          <a:solidFill>
            <a:srgbClr val="2E7D5B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931402" y="3031236"/>
            <a:ext cx="119100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Bethel</a:t>
            </a:r>
            <a:endParaRPr lang="en-US" sz="87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</a:t>
            </a:r>
            <a:endParaRPr lang="en-US" sz="870" dirty="0"/>
          </a:p>
        </p:txBody>
      </p:sp>
      <p:sp>
        <p:nvSpPr>
          <p:cNvPr id="32" name="Text 30"/>
          <p:cNvSpPr/>
          <p:nvPr/>
        </p:nvSpPr>
        <p:spPr>
          <a:xfrm>
            <a:off x="10378440" y="30861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17%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548640" y="3918204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QCi Dirac-3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548640" y="421081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photonic entropy QC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514600" y="3991356"/>
            <a:ext cx="1884807" cy="475488"/>
          </a:xfrm>
          <a:prstGeom prst="rect">
            <a:avLst/>
          </a:prstGeom>
          <a:solidFill>
            <a:srgbClr val="2E7D5B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542032" y="3991356"/>
            <a:ext cx="1829943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QUBO build</a:t>
            </a:r>
            <a:endParaRPr lang="en-US" sz="870" dirty="0"/>
          </a:p>
        </p:txBody>
      </p:sp>
      <p:sp>
        <p:nvSpPr>
          <p:cNvPr id="37" name="Shape 35"/>
          <p:cNvSpPr/>
          <p:nvPr/>
        </p:nvSpPr>
        <p:spPr>
          <a:xfrm>
            <a:off x="4431411" y="3991356"/>
            <a:ext cx="1884807" cy="475488"/>
          </a:xfrm>
          <a:prstGeom prst="rect">
            <a:avLst/>
          </a:prstGeom>
          <a:solidFill>
            <a:srgbClr val="D6455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458843" y="3991356"/>
            <a:ext cx="1829943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Photonic</a:t>
            </a:r>
            <a:endParaRPr lang="en-US" sz="87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optimis.</a:t>
            </a:r>
            <a:endParaRPr lang="en-US" sz="870" dirty="0"/>
          </a:p>
        </p:txBody>
      </p:sp>
      <p:sp>
        <p:nvSpPr>
          <p:cNvPr id="39" name="Shape 37"/>
          <p:cNvSpPr/>
          <p:nvPr/>
        </p:nvSpPr>
        <p:spPr>
          <a:xfrm>
            <a:off x="6348222" y="3991356"/>
            <a:ext cx="1884807" cy="475488"/>
          </a:xfrm>
          <a:prstGeom prst="rect">
            <a:avLst/>
          </a:prstGeom>
          <a:solidFill>
            <a:srgbClr val="2E7D5B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75654" y="3991356"/>
            <a:ext cx="1829943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 /</a:t>
            </a:r>
            <a:endParaRPr lang="en-US" sz="87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repair</a:t>
            </a:r>
            <a:endParaRPr lang="en-US" sz="870" dirty="0"/>
          </a:p>
        </p:txBody>
      </p:sp>
      <p:sp>
        <p:nvSpPr>
          <p:cNvPr id="41" name="Shape 39"/>
          <p:cNvSpPr/>
          <p:nvPr/>
        </p:nvSpPr>
        <p:spPr>
          <a:xfrm>
            <a:off x="8265033" y="3991356"/>
            <a:ext cx="1884807" cy="475488"/>
          </a:xfrm>
          <a:prstGeom prst="rect">
            <a:avLst/>
          </a:prstGeom>
          <a:solidFill>
            <a:srgbClr val="2E7D5B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292465" y="3991356"/>
            <a:ext cx="1829943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Bethel</a:t>
            </a:r>
            <a:endParaRPr lang="en-US" sz="87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</a:t>
            </a:r>
            <a:endParaRPr lang="en-US" sz="870" dirty="0"/>
          </a:p>
        </p:txBody>
      </p:sp>
      <p:sp>
        <p:nvSpPr>
          <p:cNvPr id="43" name="Text 41"/>
          <p:cNvSpPr/>
          <p:nvPr/>
        </p:nvSpPr>
        <p:spPr>
          <a:xfrm>
            <a:off x="10378440" y="40462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548640" y="4878324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Amplify AE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548640" y="517093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Ising (control)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2514600" y="4951476"/>
            <a:ext cx="1884807" cy="475488"/>
          </a:xfrm>
          <a:prstGeom prst="rect">
            <a:avLst/>
          </a:prstGeom>
          <a:solidFill>
            <a:srgbClr val="2E7D5B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542032" y="4951476"/>
            <a:ext cx="1829943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QUBO build</a:t>
            </a:r>
            <a:endParaRPr lang="en-US" sz="870" dirty="0"/>
          </a:p>
        </p:txBody>
      </p:sp>
      <p:sp>
        <p:nvSpPr>
          <p:cNvPr id="48" name="Shape 46"/>
          <p:cNvSpPr/>
          <p:nvPr/>
        </p:nvSpPr>
        <p:spPr>
          <a:xfrm>
            <a:off x="4431411" y="4951476"/>
            <a:ext cx="1884807" cy="475488"/>
          </a:xfrm>
          <a:prstGeom prst="rect">
            <a:avLst/>
          </a:prstGeom>
          <a:solidFill>
            <a:srgbClr val="2E7D5B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458843" y="4951476"/>
            <a:ext cx="1829943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</a:t>
            </a:r>
            <a:endParaRPr lang="en-US" sz="87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anneal</a:t>
            </a:r>
            <a:endParaRPr lang="en-US" sz="870" dirty="0"/>
          </a:p>
        </p:txBody>
      </p:sp>
      <p:sp>
        <p:nvSpPr>
          <p:cNvPr id="50" name="Shape 48"/>
          <p:cNvSpPr/>
          <p:nvPr/>
        </p:nvSpPr>
        <p:spPr>
          <a:xfrm>
            <a:off x="6348222" y="4951476"/>
            <a:ext cx="1884807" cy="475488"/>
          </a:xfrm>
          <a:prstGeom prst="rect">
            <a:avLst/>
          </a:prstGeom>
          <a:solidFill>
            <a:srgbClr val="2E7D5B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75654" y="4951476"/>
            <a:ext cx="1829943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</a:t>
            </a:r>
            <a:endParaRPr lang="en-US" sz="870" dirty="0"/>
          </a:p>
        </p:txBody>
      </p:sp>
      <p:sp>
        <p:nvSpPr>
          <p:cNvPr id="52" name="Shape 50"/>
          <p:cNvSpPr/>
          <p:nvPr/>
        </p:nvSpPr>
        <p:spPr>
          <a:xfrm>
            <a:off x="8265033" y="4951476"/>
            <a:ext cx="1884807" cy="475488"/>
          </a:xfrm>
          <a:prstGeom prst="rect">
            <a:avLst/>
          </a:prstGeom>
          <a:solidFill>
            <a:srgbClr val="2E7D5B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292465" y="4951476"/>
            <a:ext cx="1829943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Bethel</a:t>
            </a:r>
            <a:endParaRPr lang="en-US" sz="87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</a:t>
            </a:r>
            <a:endParaRPr lang="en-US" sz="870" dirty="0"/>
          </a:p>
        </p:txBody>
      </p:sp>
      <p:sp>
        <p:nvSpPr>
          <p:cNvPr id="54" name="Text 52"/>
          <p:cNvSpPr/>
          <p:nvPr/>
        </p:nvSpPr>
        <p:spPr>
          <a:xfrm>
            <a:off x="10378440" y="50063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500" dirty="0"/>
          </a:p>
        </p:txBody>
      </p:sp>
      <p:sp>
        <p:nvSpPr>
          <p:cNvPr id="55" name="Shape 53"/>
          <p:cNvSpPr/>
          <p:nvPr/>
        </p:nvSpPr>
        <p:spPr>
          <a:xfrm>
            <a:off x="548640" y="5815584"/>
            <a:ext cx="256032" cy="201168"/>
          </a:xfrm>
          <a:prstGeom prst="rect">
            <a:avLst/>
          </a:prstGeom>
          <a:solidFill>
            <a:srgbClr val="D64550"/>
          </a:solidFill>
          <a:ln/>
        </p:spPr>
      </p:sp>
      <p:sp>
        <p:nvSpPr>
          <p:cNvPr id="56" name="Text 54"/>
          <p:cNvSpPr/>
          <p:nvPr/>
        </p:nvSpPr>
        <p:spPr>
          <a:xfrm>
            <a:off x="868680" y="5760720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73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Genuinely quantum step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3611880" y="5815584"/>
            <a:ext cx="256032" cy="201168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58" name="Text 56"/>
          <p:cNvSpPr/>
          <p:nvPr/>
        </p:nvSpPr>
        <p:spPr>
          <a:xfrm>
            <a:off x="3931920" y="5760720"/>
            <a:ext cx="2194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73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step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6035040" y="5742432"/>
            <a:ext cx="5623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Dirac-3 shows the largest nominal quantum share — yet the worst result (286). Quantum share does not predict solution quality.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THE EXPERIMENT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common frame stops at twenty strata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73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statistical choice — an operational one. Twenty atomic strata is the largest problem every platform's free tier can accept, so the comparison is genuinely like-for-like.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3520440" cy="3200400"/>
          </a:xfrm>
          <a:prstGeom prst="rect">
            <a:avLst/>
          </a:prstGeom>
          <a:solidFill>
            <a:srgbClr val="1B1F3B"/>
          </a:solidFill>
          <a:ln/>
        </p:spPr>
      </p:sp>
      <p:sp>
        <p:nvSpPr>
          <p:cNvPr id="6" name="Shape 4"/>
          <p:cNvSpPr/>
          <p:nvPr/>
        </p:nvSpPr>
        <p:spPr>
          <a:xfrm>
            <a:off x="804672" y="2697480"/>
            <a:ext cx="502920" cy="502920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697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463040" y="271576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04672" y="3383280"/>
            <a:ext cx="30083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depth, not qubits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04672" y="3931920"/>
            <a:ext cx="3008376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7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qubits fit easily, but SWAP routing on the sparse heavy-hex lattice inflates the real K=4 circuit to ~5,354 two-qubit gates — already noise-dominated.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25112" y="2423160"/>
            <a:ext cx="3520440" cy="3200400"/>
          </a:xfrm>
          <a:prstGeom prst="rect">
            <a:avLst/>
          </a:prstGeom>
          <a:solidFill>
            <a:srgbClr val="1B1F3B"/>
          </a:solidFill>
          <a:ln/>
        </p:spPr>
      </p:sp>
      <p:sp>
        <p:nvSpPr>
          <p:cNvPr id="12" name="Shape 10"/>
          <p:cNvSpPr/>
          <p:nvPr/>
        </p:nvSpPr>
        <p:spPr>
          <a:xfrm>
            <a:off x="4581144" y="2697480"/>
            <a:ext cx="502920" cy="502920"/>
          </a:xfrm>
          <a:prstGeom prst="ellipse">
            <a:avLst/>
          </a:prstGeom>
          <a:solidFill>
            <a:srgbClr val="7B5EA7"/>
          </a:solidFill>
          <a:ln/>
        </p:spPr>
      </p:sp>
      <p:sp>
        <p:nvSpPr>
          <p:cNvPr id="13" name="Text 11"/>
          <p:cNvSpPr/>
          <p:nvPr/>
        </p:nvSpPr>
        <p:spPr>
          <a:xfrm>
            <a:off x="4581144" y="2697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239512" y="271576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QCi Dirac-3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81144" y="3383280"/>
            <a:ext cx="30083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100-variable free-tier cap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81144" y="3931920"/>
            <a:ext cx="3008376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7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one-hot QUBO needs L×K variables. At K=4, the cap of 100 variables is reached at L=25 strata.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101584" y="2423160"/>
            <a:ext cx="3520440" cy="3200400"/>
          </a:xfrm>
          <a:prstGeom prst="rect">
            <a:avLst/>
          </a:prstGeom>
          <a:solidFill>
            <a:srgbClr val="1B1F3B"/>
          </a:solidFill>
          <a:ln/>
        </p:spPr>
      </p:sp>
      <p:sp>
        <p:nvSpPr>
          <p:cNvPr id="18" name="Shape 16"/>
          <p:cNvSpPr/>
          <p:nvPr/>
        </p:nvSpPr>
        <p:spPr>
          <a:xfrm>
            <a:off x="8357616" y="2697480"/>
            <a:ext cx="502920" cy="502920"/>
          </a:xfrm>
          <a:prstGeom prst="ellipse">
            <a:avLst/>
          </a:prstGeom>
          <a:solidFill>
            <a:srgbClr val="3E7CB1"/>
          </a:solidFill>
          <a:ln/>
        </p:spPr>
      </p:sp>
      <p:sp>
        <p:nvSpPr>
          <p:cNvPr id="19" name="Text 17"/>
          <p:cNvSpPr/>
          <p:nvPr/>
        </p:nvSpPr>
        <p:spPr>
          <a:xfrm>
            <a:off x="8357616" y="2697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015984" y="271576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D-Wave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357616" y="3383280"/>
            <a:ext cx="30083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Minor-embedding capacity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357616" y="3931920"/>
            <a:ext cx="3008376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7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dense QUBO needs long qubit chains on Pegasus; practical embedding tops out around 120 dense variables — roughly 30 strata at K=4.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58064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Twenty strata: fine enough to be a genuine optimisation problem, coarse enough to run on every platform without approximation.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THE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size by method — lower is better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Twenty atomic strata · K = 4 · CV target 5% · identical Bethel-Chromy evaluation for every method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783080"/>
          <a:ext cx="1124712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6236208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150" dirty="0">
                <a:solidFill>
                  <a:srgbClr val="273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benchmark (129)   </a:t>
            </a:r>
            <a:pPr indent="0" marL="0">
              <a:buNone/>
            </a:pPr>
            <a:r>
              <a:rPr lang="en-US" sz="115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150" dirty="0">
                <a:solidFill>
                  <a:srgbClr val="273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Best-known QUBO value — Amplify AE (160)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THE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quantum machines, two different failures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4663440"/>
          </a:xfrm>
          <a:prstGeom prst="rect">
            <a:avLst/>
          </a:prstGeom>
          <a:solidFill>
            <a:srgbClr val="2C3260"/>
          </a:solidFill>
          <a:ln/>
        </p:spPr>
      </p:sp>
      <p:sp>
        <p:nvSpPr>
          <p:cNvPr id="5" name="Shape 3"/>
          <p:cNvSpPr/>
          <p:nvPr/>
        </p:nvSpPr>
        <p:spPr>
          <a:xfrm>
            <a:off x="841248" y="1892808"/>
            <a:ext cx="457200" cy="457200"/>
          </a:xfrm>
          <a:prstGeom prst="ellipse">
            <a:avLst/>
          </a:prstGeom>
          <a:solidFill>
            <a:srgbClr val="D64550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18928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1911096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— noise, not optimisation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868680" y="2734056"/>
            <a:ext cx="91440" cy="91440"/>
          </a:xfrm>
          <a:prstGeom prst="rect">
            <a:avLst/>
          </a:prstGeom>
          <a:solidFill>
            <a:srgbClr val="D64550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651760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6D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40-qubit circuit reaches depth ~4,900 after SWAP routing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68680" y="3602736"/>
            <a:ext cx="91440" cy="91440"/>
          </a:xfrm>
          <a:prstGeom prst="rect">
            <a:avLst/>
          </a:prstGeom>
          <a:solidFill>
            <a:srgbClr val="D64550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3520440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6D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energy sat at zero throughout the (2-iteration) variational loop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8680" y="4471416"/>
            <a:ext cx="91440" cy="91440"/>
          </a:xfrm>
          <a:prstGeom prst="rect">
            <a:avLst/>
          </a:prstGeom>
          <a:solidFill>
            <a:srgbClr val="D64550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4389120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6D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bitstring repeated across the sample taken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68680" y="5340096"/>
            <a:ext cx="91440" cy="91440"/>
          </a:xfrm>
          <a:prstGeom prst="rect">
            <a:avLst/>
          </a:prstGeom>
          <a:solidFill>
            <a:srgbClr val="D64550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5257800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6D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read: an effectively random partition, from a run too short and too deep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1600200"/>
            <a:ext cx="5349240" cy="4663440"/>
          </a:xfrm>
          <a:prstGeom prst="rect">
            <a:avLst/>
          </a:prstGeom>
          <a:solidFill>
            <a:srgbClr val="2C3260"/>
          </a:solidFill>
          <a:ln/>
        </p:spPr>
      </p:sp>
      <p:sp>
        <p:nvSpPr>
          <p:cNvPr id="17" name="Shape 15"/>
          <p:cNvSpPr/>
          <p:nvPr/>
        </p:nvSpPr>
        <p:spPr>
          <a:xfrm>
            <a:off x="6510528" y="1892808"/>
            <a:ext cx="457200" cy="457200"/>
          </a:xfrm>
          <a:prstGeom prst="ellipse">
            <a:avLst/>
          </a:prstGeom>
          <a:solidFill>
            <a:srgbClr val="7B5EA7"/>
          </a:solidFill>
          <a:ln/>
        </p:spPr>
      </p:sp>
      <p:sp>
        <p:nvSpPr>
          <p:cNvPr id="18" name="Text 16"/>
          <p:cNvSpPr/>
          <p:nvPr/>
        </p:nvSpPr>
        <p:spPr>
          <a:xfrm>
            <a:off x="6510528" y="18928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△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132320" y="1911096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Dirac-3 — a real optimum, in the wrong place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6537960" y="2734056"/>
            <a:ext cx="91440" cy="91440"/>
          </a:xfrm>
          <a:prstGeom prst="rect">
            <a:avLst/>
          </a:prstGeom>
          <a:solidFill>
            <a:srgbClr val="7B5EA7"/>
          </a:solidFill>
          <a:ln/>
        </p:spPr>
      </p:sp>
      <p:sp>
        <p:nvSpPr>
          <p:cNvPr id="21" name="Text 19"/>
          <p:cNvSpPr/>
          <p:nvPr/>
        </p:nvSpPr>
        <p:spPr>
          <a:xfrm>
            <a:off x="6766560" y="2651760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6D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energy clearly negative — genuine optimisation, confirmed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537960" y="3602736"/>
            <a:ext cx="91440" cy="91440"/>
          </a:xfrm>
          <a:prstGeom prst="rect">
            <a:avLst/>
          </a:prstGeom>
          <a:solidFill>
            <a:srgbClr val="7B5EA7"/>
          </a:solidFill>
          <a:ln/>
        </p:spPr>
      </p:sp>
      <p:sp>
        <p:nvSpPr>
          <p:cNvPr id="23" name="Text 21"/>
          <p:cNvSpPr/>
          <p:nvPr/>
        </p:nvSpPr>
        <p:spPr>
          <a:xfrm>
            <a:off x="6766560" y="3520440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6D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All-to-all photonic connectivity: no embedding, no routing overhead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537960" y="4471416"/>
            <a:ext cx="91440" cy="91440"/>
          </a:xfrm>
          <a:prstGeom prst="rect">
            <a:avLst/>
          </a:prstGeom>
          <a:solidFill>
            <a:srgbClr val="7B5EA7"/>
          </a:solidFill>
          <a:ln/>
        </p:spPr>
      </p:sp>
      <p:sp>
        <p:nvSpPr>
          <p:cNvPr id="25" name="Text 23"/>
          <p:cNvSpPr/>
          <p:nvPr/>
        </p:nvSpPr>
        <p:spPr>
          <a:xfrm>
            <a:off x="6766560" y="4389120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6D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 it settles far from the best-known QUBO value (286 vs. 160)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537960" y="5340096"/>
            <a:ext cx="91440" cy="91440"/>
          </a:xfrm>
          <a:prstGeom prst="rect">
            <a:avLst/>
          </a:prstGeom>
          <a:solidFill>
            <a:srgbClr val="7B5EA7"/>
          </a:solidFill>
          <a:ln/>
        </p:spPr>
      </p:sp>
      <p:sp>
        <p:nvSpPr>
          <p:cNvPr id="27" name="Text 25"/>
          <p:cNvSpPr/>
          <p:nvPr/>
        </p:nvSpPr>
        <p:spPr>
          <a:xfrm>
            <a:off x="6766560" y="5257800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D6D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optimised the right surrogate — just not nearly well enough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THE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Decomposing the gap: formulation vs. hardware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73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free classical GPU (Amplify AE) isolates the best-known value the QUBO surrogate can reach — no noise, no embedding, no routing to blame.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2377440"/>
            <a:ext cx="3383280" cy="3017520"/>
          </a:xfrm>
          <a:prstGeom prst="rect">
            <a:avLst/>
          </a:prstGeom>
          <a:solidFill>
            <a:srgbClr val="F5F6FA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2377440"/>
            <a:ext cx="3383280" cy="82296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633472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2E7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129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777240" y="35661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benchmark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68680" y="3977640"/>
            <a:ext cx="2834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SamplingStrata GA optimises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Bethel directly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995928" y="3429000"/>
            <a:ext cx="42062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formulation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434840" y="2377440"/>
            <a:ext cx="3383280" cy="3017520"/>
          </a:xfrm>
          <a:prstGeom prst="rect">
            <a:avLst/>
          </a:prstGeom>
          <a:solidFill>
            <a:srgbClr val="F5F6FA"/>
          </a:solidFill>
          <a:ln/>
        </p:spPr>
      </p:sp>
      <p:sp>
        <p:nvSpPr>
          <p:cNvPr id="12" name="Shape 10"/>
          <p:cNvSpPr/>
          <p:nvPr/>
        </p:nvSpPr>
        <p:spPr>
          <a:xfrm>
            <a:off x="4434840" y="2377440"/>
            <a:ext cx="3383280" cy="82296"/>
          </a:xfrm>
          <a:prstGeom prst="rect">
            <a:avLst/>
          </a:prstGeom>
          <a:solidFill>
            <a:srgbClr val="F2A541"/>
          </a:solidFill>
          <a:ln/>
        </p:spPr>
      </p:sp>
      <p:sp>
        <p:nvSpPr>
          <p:cNvPr id="13" name="Text 11"/>
          <p:cNvSpPr/>
          <p:nvPr/>
        </p:nvSpPr>
        <p:spPr>
          <a:xfrm>
            <a:off x="4617720" y="2633472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160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4617720" y="35661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Best-known QUBO value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709160" y="3977640"/>
            <a:ext cx="2834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Amplify AE, confirmed by an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search — no hardware to blame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836408" y="3429000"/>
            <a:ext cx="42062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formulation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275320" y="2377440"/>
            <a:ext cx="3383280" cy="3017520"/>
          </a:xfrm>
          <a:prstGeom prst="rect">
            <a:avLst/>
          </a:prstGeom>
          <a:solidFill>
            <a:srgbClr val="F5F6FA"/>
          </a:solidFill>
          <a:ln/>
        </p:spPr>
      </p:sp>
      <p:sp>
        <p:nvSpPr>
          <p:cNvPr id="18" name="Shape 16"/>
          <p:cNvSpPr/>
          <p:nvPr/>
        </p:nvSpPr>
        <p:spPr>
          <a:xfrm>
            <a:off x="8275320" y="2377440"/>
            <a:ext cx="3383280" cy="82296"/>
          </a:xfrm>
          <a:prstGeom prst="rect">
            <a:avLst/>
          </a:prstGeom>
          <a:solidFill>
            <a:srgbClr val="D64550"/>
          </a:solidFill>
          <a:ln/>
        </p:spPr>
      </p:sp>
      <p:sp>
        <p:nvSpPr>
          <p:cNvPr id="19" name="Text 17"/>
          <p:cNvSpPr/>
          <p:nvPr/>
        </p:nvSpPr>
        <p:spPr>
          <a:xfrm>
            <a:off x="8458200" y="2633472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D64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262 / 286</a:t>
            </a:r>
            <a:endParaRPr lang="en-US" sz="4200" dirty="0"/>
          </a:p>
        </p:txBody>
      </p:sp>
      <p:sp>
        <p:nvSpPr>
          <p:cNvPr id="20" name="Text 18"/>
          <p:cNvSpPr/>
          <p:nvPr/>
        </p:nvSpPr>
        <p:spPr>
          <a:xfrm>
            <a:off x="8458200" y="35661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quantum hardware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549640" y="3977640"/>
            <a:ext cx="2834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&amp; Dirac-3 fall further short —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and under-optimisation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58064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24% gap from 129 to 160 is the price of the surrogate itself — no solver in this study, quantum or classical, closed it.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GOING DEEPER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minimise a proxy, and not Bethel itself?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73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QUBO must be a polynomial in the assignment variables. The Bethel sample size cannot be written that way.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5257800" cy="3840480"/>
          </a:xfrm>
          <a:prstGeom prst="rect">
            <a:avLst/>
          </a:prstGeom>
          <a:solidFill>
            <a:srgbClr val="1B1F3B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331720"/>
            <a:ext cx="82296" cy="3840480"/>
          </a:xfrm>
          <a:prstGeom prst="rect">
            <a:avLst/>
          </a:prstGeom>
          <a:solidFill>
            <a:srgbClr val="D64550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58775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obstacle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3108960"/>
            <a:ext cx="274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43000" y="3108960"/>
            <a:ext cx="4343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6D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means are ratios: population appears in the denominator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68680" y="3858768"/>
            <a:ext cx="274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43000" y="3858768"/>
            <a:ext cx="4343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6D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denominator itself depends on the assignment — not a fixed constant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68680" y="4608576"/>
            <a:ext cx="274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43000" y="4608576"/>
            <a:ext cx="4343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6D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Bethel-Chromy is an iterative fixed-point procedure with min/max truncation, not a closed formula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68680" y="5358384"/>
            <a:ext cx="274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43000" y="5358384"/>
            <a:ext cx="4343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6D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this is expressible as a low-degree polynomial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080760" y="2331720"/>
            <a:ext cx="5257800" cy="3840480"/>
          </a:xfrm>
          <a:prstGeom prst="rect">
            <a:avLst/>
          </a:prstGeom>
          <a:solidFill>
            <a:srgbClr val="1B1F3B"/>
          </a:solidFill>
          <a:ln/>
        </p:spPr>
      </p:sp>
      <p:sp>
        <p:nvSpPr>
          <p:cNvPr id="17" name="Shape 15"/>
          <p:cNvSpPr/>
          <p:nvPr/>
        </p:nvSpPr>
        <p:spPr>
          <a:xfrm>
            <a:off x="6080760" y="2331720"/>
            <a:ext cx="82296" cy="3840480"/>
          </a:xfrm>
          <a:prstGeom prst="rect">
            <a:avLst/>
          </a:prstGeom>
          <a:solidFill>
            <a:srgbClr val="00B4A6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2587752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homogeneity works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00800" y="3108960"/>
            <a:ext cx="274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675120" y="3108960"/>
            <a:ext cx="4343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6D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Within-cluster dispersion has an exact pairwise identity in the assignment variables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400800" y="3858768"/>
            <a:ext cx="274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675120" y="3858768"/>
            <a:ext cx="4343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6D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quadratic — exactly the form a QUBO needs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400800" y="4608576"/>
            <a:ext cx="274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675120" y="4608576"/>
            <a:ext cx="4343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6D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trade-off: it is an approximation of Bethel, not an equivalent of it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00800" y="5358384"/>
            <a:ext cx="274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675120" y="5358384"/>
            <a:ext cx="4343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D6D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approximation, not any solver's weakness, sets the ~160 floor seen in this study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WHAT'S NEXT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wider landscape: what else was considered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109960" cy="896112"/>
          </a:xfrm>
          <a:prstGeom prst="rect">
            <a:avLst/>
          </a:prstGeom>
          <a:solidFill>
            <a:srgbClr val="F5F6FA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00200"/>
            <a:ext cx="23774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Quantinuum / IonQ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00400" y="1600200"/>
            <a:ext cx="22860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Trapped ion, all-to-all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577840" y="1828800"/>
            <a:ext cx="1920240" cy="438912"/>
          </a:xfrm>
          <a:prstGeom prst="roundRect">
            <a:avLst>
              <a:gd name="adj" fmla="val 12500"/>
            </a:avLst>
          </a:prstGeom>
          <a:solidFill>
            <a:srgbClr val="00B4A6"/>
          </a:solidFill>
          <a:ln/>
        </p:spPr>
      </p:sp>
      <p:sp>
        <p:nvSpPr>
          <p:cNvPr id="8" name="Text 6"/>
          <p:cNvSpPr/>
          <p:nvPr/>
        </p:nvSpPr>
        <p:spPr>
          <a:xfrm>
            <a:off x="5577840" y="1828800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USED — worth running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680960" y="1600200"/>
            <a:ext cx="37947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73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SWAP overhead; the one experiment that could isolate connectivity from the surrogate problem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551176"/>
            <a:ext cx="11109960" cy="8961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551176"/>
            <a:ext cx="23774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Fujitsu DA / Toshiba SQBM+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00400" y="2551176"/>
            <a:ext cx="22860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Dense-QUBO hardware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577840" y="2779776"/>
            <a:ext cx="1920240" cy="438912"/>
          </a:xfrm>
          <a:prstGeom prst="roundRect">
            <a:avLst>
              <a:gd name="adj" fmla="val 12500"/>
            </a:avLst>
          </a:prstGeom>
          <a:solidFill>
            <a:srgbClr val="8A8F9C"/>
          </a:solidFill>
          <a:ln/>
        </p:spPr>
      </p:sp>
      <p:sp>
        <p:nvSpPr>
          <p:cNvPr id="14" name="Text 12"/>
          <p:cNvSpPr/>
          <p:nvPr/>
        </p:nvSpPr>
        <p:spPr>
          <a:xfrm>
            <a:off x="5577840" y="2779776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USED — redundant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680960" y="2551176"/>
            <a:ext cx="37947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73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likely match, not beat, Amplify AE's best-known result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502152"/>
            <a:ext cx="11109960" cy="896112"/>
          </a:xfrm>
          <a:prstGeom prst="rect">
            <a:avLst/>
          </a:prstGeom>
          <a:solidFill>
            <a:srgbClr val="F5F6FA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502152"/>
            <a:ext cx="23774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Willow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200400" y="3502152"/>
            <a:ext cx="22860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Superconducting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577840" y="3730752"/>
            <a:ext cx="1920240" cy="438912"/>
          </a:xfrm>
          <a:prstGeom prst="roundRect">
            <a:avLst>
              <a:gd name="adj" fmla="val 12500"/>
            </a:avLst>
          </a:prstGeom>
          <a:solidFill>
            <a:srgbClr val="8A8F9C"/>
          </a:solidFill>
          <a:ln/>
        </p:spPr>
      </p:sp>
      <p:sp>
        <p:nvSpPr>
          <p:cNvPr id="20" name="Text 18"/>
          <p:cNvSpPr/>
          <p:nvPr/>
        </p:nvSpPr>
        <p:spPr>
          <a:xfrm>
            <a:off x="5577840" y="3730752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AVAILABLE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680960" y="3502152"/>
            <a:ext cx="37947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73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closed at time of writing — selective research proposals only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4453128"/>
            <a:ext cx="11109960" cy="8961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4453128"/>
            <a:ext cx="23774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Rigetti / IQM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200400" y="4453128"/>
            <a:ext cx="22860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Superconducting, sparse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577840" y="4681728"/>
            <a:ext cx="1920240" cy="438912"/>
          </a:xfrm>
          <a:prstGeom prst="roundRect">
            <a:avLst>
              <a:gd name="adj" fmla="val 12500"/>
            </a:avLst>
          </a:prstGeom>
          <a:solidFill>
            <a:srgbClr val="D64550"/>
          </a:solidFill>
          <a:ln/>
        </p:spPr>
      </p:sp>
      <p:sp>
        <p:nvSpPr>
          <p:cNvPr id="26" name="Text 24"/>
          <p:cNvSpPr/>
          <p:nvPr/>
        </p:nvSpPr>
        <p:spPr>
          <a:xfrm>
            <a:off x="5577840" y="4681728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USED — unsuitable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680960" y="4453128"/>
            <a:ext cx="37947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73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sparse-lattice SWAP problem that limited IBM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5404104"/>
            <a:ext cx="11109960" cy="896112"/>
          </a:xfrm>
          <a:prstGeom prst="rect">
            <a:avLst/>
          </a:prstGeom>
          <a:solidFill>
            <a:srgbClr val="F5F6FA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" y="5404104"/>
            <a:ext cx="237744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QuEra / Pasqal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200400" y="5404104"/>
            <a:ext cx="22860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 atom, analog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577840" y="5632704"/>
            <a:ext cx="1920240" cy="438912"/>
          </a:xfrm>
          <a:prstGeom prst="roundRect">
            <a:avLst>
              <a:gd name="adj" fmla="val 12500"/>
            </a:avLst>
          </a:prstGeom>
          <a:solidFill>
            <a:srgbClr val="D64550"/>
          </a:solidFill>
          <a:ln/>
        </p:spPr>
      </p:sp>
      <p:sp>
        <p:nvSpPr>
          <p:cNvPr id="32" name="Text 30"/>
          <p:cNvSpPr/>
          <p:nvPr/>
        </p:nvSpPr>
        <p:spPr>
          <a:xfrm>
            <a:off x="5577840" y="5632704"/>
            <a:ext cx="19202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USED — unsuitable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680960" y="5404104"/>
            <a:ext cx="379476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73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need a lossy remapping to a maximum-independent-set problem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Classical still wins — for two distinct reasons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429000" cy="1874520"/>
          </a:xfrm>
          <a:prstGeom prst="rect">
            <a:avLst/>
          </a:prstGeom>
          <a:solidFill>
            <a:srgbClr val="2C326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73736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E7D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129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77240" y="269748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7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benchmark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297680" y="1600200"/>
            <a:ext cx="3429000" cy="1874520"/>
          </a:xfrm>
          <a:prstGeom prst="rect">
            <a:avLst/>
          </a:prstGeom>
          <a:solidFill>
            <a:srgbClr val="2C3260"/>
          </a:solidFill>
          <a:ln/>
        </p:spPr>
      </p:sp>
      <p:sp>
        <p:nvSpPr>
          <p:cNvPr id="8" name="Text 6"/>
          <p:cNvSpPr/>
          <p:nvPr/>
        </p:nvSpPr>
        <p:spPr>
          <a:xfrm>
            <a:off x="4480560" y="173736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160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526280" y="269748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7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Best-known QUBO value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7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 free GPU, not a quantum device)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046720" y="1600200"/>
            <a:ext cx="3429000" cy="1874520"/>
          </a:xfrm>
          <a:prstGeom prst="rect">
            <a:avLst/>
          </a:prstGeom>
          <a:solidFill>
            <a:srgbClr val="2C3260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0" y="173736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645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262 / 286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8275320" y="2697480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7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quantum hardware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7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(IBM / Dirac-3)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794760"/>
            <a:ext cx="310896" cy="310896"/>
          </a:xfrm>
          <a:prstGeom prst="ellipse">
            <a:avLst/>
          </a:prstGeom>
          <a:solidFill>
            <a:srgbClr val="00B4A6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7947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51560" y="374904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E4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surrogate objective, not any particular machine, sets the ~24% floor above the classical optimum.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4453128"/>
            <a:ext cx="310896" cy="310896"/>
          </a:xfrm>
          <a:prstGeom prst="ellipse">
            <a:avLst/>
          </a:prstGeom>
          <a:solidFill>
            <a:srgbClr val="00B4A6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45312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51560" y="4407408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E4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quantum devices fall short even of that floor — for different reasons: IBM by noise, Dirac-3 by under-optimisation.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5111496"/>
            <a:ext cx="310896" cy="310896"/>
          </a:xfrm>
          <a:prstGeom prst="ellipse">
            <a:avLst/>
          </a:prstGeom>
          <a:solidFill>
            <a:srgbClr val="00B4A6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511149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051560" y="5065776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E4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structural obstacles remain before quantum optimisation can compete: a Bethel-compatible objective, and hardware that executes dense interactions without noise.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48640" y="5769864"/>
            <a:ext cx="310896" cy="310896"/>
          </a:xfrm>
          <a:prstGeom prst="ellipse">
            <a:avLst/>
          </a:prstGeom>
          <a:solidFill>
            <a:srgbClr val="00B4A6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576986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051560" y="5724144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E4E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recommendation today: the SamplingStrata genetic algorithm remains the method of choice.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474720"/>
            <a:ext cx="5943600" cy="5943600"/>
          </a:xfrm>
          <a:prstGeom prst="ellipse">
            <a:avLst/>
          </a:prstGeom>
          <a:solidFill>
            <a:srgbClr val="2C3260"/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4206240"/>
            <a:ext cx="2743200" cy="2743200"/>
          </a:xfrm>
          <a:prstGeom prst="ellipse">
            <a:avLst/>
          </a:prstGeom>
          <a:solidFill>
            <a:srgbClr val="00B4A6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46888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342900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7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Stratification of a Sampling Frame: Classical, Quantum, and Quantum-Inspired Approaches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4160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discussion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2026-07-18T11:23:25Z</dcterms:created>
  <dcterms:modified xsi:type="dcterms:W3CDTF">2026-07-18T11:23:25Z</dcterms:modified>
</cp:coreProperties>
</file>